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orkbench_process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orkbench_process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990a523fd5abd22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e047850d91f4b1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27b2c2b9496ac3.png"/>
  <Relationship Id="rId3" Type="http://schemas.openxmlformats.org/officeDocument/2006/relationships/image" Target="../media/image_f1207dcb4101352f.png"/>
  <Relationship Id="rId4" Type="http://schemas.openxmlformats.org/officeDocument/2006/relationships/image" Target="../media/image_aa6ff0e99667648d.png"/>
  <Relationship Id="rId5" Type="http://schemas.openxmlformats.org/officeDocument/2006/relationships/image" Target="../media/image_e379cb6a1b63931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9fe5efedf97f8d6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35699de1d6c0784.png"/>
  <Relationship Id="rId3" Type="http://schemas.openxmlformats.org/officeDocument/2006/relationships/image" Target="../media/image_cc33b14c1d0805b2.png"/>
  <Relationship Id="rId4" Type="http://schemas.openxmlformats.org/officeDocument/2006/relationships/image" Target="../media/image_5c03cb583b2e3b9c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609600"/>
            <a:ext cx="762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32866" y="553402"/>
            <a:ext cx="21198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DATA ANALYSIS WORKBENCH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1492568"/>
            <a:ext cx="4137279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我如何做出一个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0550" y="2013585"/>
            <a:ext cx="5409438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数据分析工作台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7032" y="3107055"/>
            <a:ext cx="56753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从课程材料、需求对齐到界面实现与功能验收</a:t>
            </a:r>
          </a:p>
        </p:txBody>
      </p:sp>
      <p:sp>
        <p:nvSpPr>
          <p:cNvPr id="7" name="Line 7"/>
          <p:cNvSpPr/>
          <p:nvPr/>
        </p:nvSpPr>
        <p:spPr>
          <a:xfrm>
            <a:off x="609600" y="41719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01980" y="46386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制作过程复盘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9304" y="4654868"/>
            <a:ext cx="1349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1 / Part 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372350" y="1390650"/>
            <a:ext cx="3790950" cy="314325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96200" y="1714500"/>
            <a:ext cx="3143250" cy="323850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861935" y="1812131"/>
            <a:ext cx="20689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ANALYSIS WORKBENCH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96200" y="2305050"/>
            <a:ext cx="1485900" cy="18097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9353550" y="2305050"/>
            <a:ext cx="1485900" cy="18097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7896225" y="252412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166354" y="2537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输入数据</a:t>
            </a:r>
          </a:p>
        </p:txBody>
      </p:sp>
      <p:sp>
        <p:nvSpPr>
          <p:cNvPr id="17" name="Ellipse 17"/>
          <p:cNvSpPr/>
          <p:nvPr/>
        </p:nvSpPr>
        <p:spPr>
          <a:xfrm>
            <a:off x="7896225" y="2943225"/>
            <a:ext cx="171450" cy="171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166354" y="29565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选择分析</a:t>
            </a:r>
          </a:p>
        </p:txBody>
      </p:sp>
      <p:sp>
        <p:nvSpPr>
          <p:cNvPr id="19" name="Ellipse 19"/>
          <p:cNvSpPr/>
          <p:nvPr/>
        </p:nvSpPr>
        <p:spPr>
          <a:xfrm>
            <a:off x="7896225" y="336232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66354" y="3375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查看交付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37954" y="2537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分析结果</a:t>
            </a:r>
          </a:p>
        </p:txBody>
      </p:sp>
      <p:sp>
        <p:nvSpPr>
          <p:cNvPr id="22" name="Line 22"/>
          <p:cNvSpPr/>
          <p:nvPr/>
        </p:nvSpPr>
        <p:spPr>
          <a:xfrm>
            <a:off x="9601200" y="3143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47625">
            <a:solidFill>
              <a:schemeClr val="accent1"/>
            </a:solidFill>
          </a:ln>
        </p:spPr>
      </p:sp>
      <p:sp>
        <p:nvSpPr>
          <p:cNvPr id="23" name="Line 23"/>
          <p:cNvSpPr/>
          <p:nvPr/>
        </p:nvSpPr>
        <p:spPr>
          <a:xfrm>
            <a:off x="9601200" y="3429000"/>
            <a:ext cx="781050" cy="9525"/>
          </a:xfrm>
          <a:custGeom>
            <a:avLst/>
            <a:gdLst/>
            <a:ahLst/>
            <a:cxnLst/>
            <a:rect l="l" t="t" r="r" b="b"/>
            <a:pathLst>
              <a:path w="781050" h="952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/>
          <a:ln w="47625">
            <a:solidFill>
              <a:schemeClr val="accent3"/>
            </a:solidFill>
          </a:ln>
        </p:spPr>
      </p:sp>
      <p:sp>
        <p:nvSpPr>
          <p:cNvPr id="24" name="Line 24"/>
          <p:cNvSpPr/>
          <p:nvPr/>
        </p:nvSpPr>
        <p:spPr>
          <a:xfrm>
            <a:off x="9601200" y="3714750"/>
            <a:ext cx="1066800" cy="9525"/>
          </a:xfrm>
          <a:custGeom>
            <a:avLst/>
            <a:gdLst/>
            <a:ahLst/>
            <a:cxnLst/>
            <a:rect l="l" t="t" r="r" b="b"/>
            <a:pathLst>
              <a:path w="1066800" h="9525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04266" y="6173152"/>
            <a:ext cx="18846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WORKBENCH PROCESS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27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 / 起点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5523746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先让 AI 读懂课程材料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320" y="1528762"/>
            <a:ext cx="653727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我先把老师上课用的 10 个课程 PPT 交给 AI。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606" y="20154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先理解课程内容，再决定要做什么工具。</a:t>
            </a:r>
          </a:p>
        </p:txBody>
      </p:sp>
      <p:sp>
        <p:nvSpPr>
          <p:cNvPr id="8" name="Line 8"/>
          <p:cNvSpPr/>
          <p:nvPr/>
        </p:nvSpPr>
        <p:spPr>
          <a:xfrm>
            <a:off x="666750" y="2857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81050" y="356235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99715" y="38385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7642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输入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2308" y="3779520"/>
            <a:ext cx="224930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10 个课程 PPT</a:t>
            </a:r>
          </a:p>
        </p:txBody>
      </p:sp>
      <p:sp>
        <p:nvSpPr>
          <p:cNvPr id="13" name="Line 13"/>
          <p:cNvSpPr/>
          <p:nvPr/>
        </p:nvSpPr>
        <p:spPr>
          <a:xfrm>
            <a:off x="3619500" y="3905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4800600" y="356235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19265" y="38385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27192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理解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21858" y="3779520"/>
            <a:ext cx="293376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 AI 总结课程任务</a:t>
            </a:r>
          </a:p>
        </p:txBody>
      </p:sp>
      <p:sp>
        <p:nvSpPr>
          <p:cNvPr id="18" name="Line 18"/>
          <p:cNvSpPr/>
          <p:nvPr/>
        </p:nvSpPr>
        <p:spPr>
          <a:xfrm>
            <a:off x="7905750" y="3905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9086850" y="3562350"/>
            <a:ext cx="685800" cy="685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05515" y="38385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13442" y="3569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需求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08108" y="377952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做一个工作台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66750" y="5238750"/>
            <a:ext cx="10858500" cy="704850"/>
          </a:xfrm>
          <a:prstGeom prst="roundRect">
            <a:avLst>
              <a:gd name="adj" fmla="val 10811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02970" y="5453062"/>
            <a:ext cx="43826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课程材料 → AI 理解 → 清晰需求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19082" y="63665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先把问题说清楚，再开始制作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27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/ 配置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725196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 AI 配上合适的角色和能力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6082" y="1564005"/>
            <a:ext cx="5507355" cy="810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150"/>
              </a:lnSpc>
            </a:pPr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WorkBuddy 里有很多专家和技能。</a:t>
            </a:r>
            <a:br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我选择“工作台搭建师”，再按需要挂载 Skill。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666750" y="2971800"/>
            <a:ext cx="4800600" cy="2781300"/>
          </a:xfrm>
          <a:prstGeom prst="roundRect">
            <a:avLst>
              <a:gd name="adj" fmla="val 41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6780" y="3228975"/>
            <a:ext cx="7215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Expert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684" y="3480435"/>
            <a:ext cx="253238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 AI 怎么想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6018" y="4089082"/>
            <a:ext cx="3579114" cy="6465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工作台搭建师</a:t>
            </a:r>
            <a:br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负责从产品角度拆解需求、规划结构。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810250" y="2971800"/>
            <a:ext cx="5715000" cy="27813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226" y="3124200"/>
            <a:ext cx="3549047" cy="2476500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5962650" y="5219700"/>
            <a:ext cx="1428750" cy="285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186297" y="52901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工作台搭建师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1242" y="52644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选择合适的协作角色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27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 / 对齐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385457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先把需求问清楚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3796" y="1477328"/>
            <a:ext cx="244346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工具：grill-me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606" y="1958340"/>
            <a:ext cx="65850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它会通过多轮提问，把“大概想法”问成可以开始设计的方案。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66750" y="2686050"/>
            <a:ext cx="108585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251" y="2876550"/>
            <a:ext cx="4125498" cy="971550"/>
          </a:xfrm>
          <a:prstGeom prst="rect">
            <a:avLst/>
          </a:prstGeom>
        </p:spPr>
      </p:pic>
      <p:sp>
        <p:nvSpPr>
          <p:cNvPr id="10" name="Line 10"/>
          <p:cNvSpPr/>
          <p:nvPr/>
        </p:nvSpPr>
        <p:spPr>
          <a:xfrm>
            <a:off x="666750" y="46291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819150" y="5029200"/>
            <a:ext cx="571500" cy="571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8973" y="52292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0106" y="51968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提出大致想法</a:t>
            </a:r>
          </a:p>
        </p:txBody>
      </p:sp>
      <p:sp>
        <p:nvSpPr>
          <p:cNvPr id="14" name="Ellipse 14"/>
          <p:cNvSpPr/>
          <p:nvPr/>
        </p:nvSpPr>
        <p:spPr>
          <a:xfrm>
            <a:off x="4438650" y="5029200"/>
            <a:ext cx="571500" cy="571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58473" y="52292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9606" y="51968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多轮追问</a:t>
            </a:r>
          </a:p>
        </p:txBody>
      </p:sp>
      <p:sp>
        <p:nvSpPr>
          <p:cNvPr id="17" name="Ellipse 17"/>
          <p:cNvSpPr/>
          <p:nvPr/>
        </p:nvSpPr>
        <p:spPr>
          <a:xfrm>
            <a:off x="7639050" y="5029200"/>
            <a:ext cx="571500" cy="57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858873" y="52292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30006" y="51968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形成清晰构思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80626" y="63474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需求越具体，后面越少返工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27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 / 设计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603542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先设计界面，再开始实现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6082" y="1487805"/>
            <a:ext cx="70917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可以先构思界面，再让不同的设计 Skill 给出视觉参考。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8368" y="193643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效果会不同，但目的都是减少试错。</a:t>
            </a:r>
          </a:p>
        </p:txBody>
      </p:sp>
      <p:sp>
        <p:nvSpPr>
          <p:cNvPr id="8" name="Line 8"/>
          <p:cNvSpPr/>
          <p:nvPr/>
        </p:nvSpPr>
        <p:spPr>
          <a:xfrm>
            <a:off x="666750" y="25717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66750" y="289560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79" y="3009900"/>
            <a:ext cx="1597242" cy="2400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92459" y="5512118"/>
            <a:ext cx="10250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taste-skill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429000" y="289560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741" y="3009900"/>
            <a:ext cx="1849019" cy="2400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924460" y="5512118"/>
            <a:ext cx="1485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UI-UX-PRO-MAX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289560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325" y="3009900"/>
            <a:ext cx="1774349" cy="2400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659347" y="55121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frontend-design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953500" y="2895600"/>
            <a:ext cx="2571750" cy="2857500"/>
          </a:xfrm>
          <a:prstGeom prst="roundRect">
            <a:avLst>
              <a:gd name="adj" fmla="val 3704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9262" y="3009900"/>
            <a:ext cx="1800225" cy="2400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687306" y="55121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不同审美方向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27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 / 实现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494499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先搭骨架，再填功能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320" y="15097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有了界面参考以后，我把制作拆成三件事。</a:t>
            </a:r>
          </a:p>
        </p:txBody>
      </p:sp>
      <p:sp>
        <p:nvSpPr>
          <p:cNvPr id="7" name="Line 7"/>
          <p:cNvSpPr/>
          <p:nvPr/>
        </p:nvSpPr>
        <p:spPr>
          <a:xfrm>
            <a:off x="1066800" y="285750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8" name="Ellipse 8"/>
          <p:cNvSpPr/>
          <p:nvPr/>
        </p:nvSpPr>
        <p:spPr>
          <a:xfrm>
            <a:off x="895350" y="283845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475994" y="289464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规划功能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7518" y="32508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写说明文档，或边讨论边确定功能范围。</a:t>
            </a:r>
          </a:p>
        </p:txBody>
      </p:sp>
      <p:sp>
        <p:nvSpPr>
          <p:cNvPr id="11" name="Ellipse 11"/>
          <p:cNvSpPr/>
          <p:nvPr/>
        </p:nvSpPr>
        <p:spPr>
          <a:xfrm>
            <a:off x="895350" y="3810000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994" y="3866198"/>
            <a:ext cx="90947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搭好 UI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7518" y="4222432"/>
            <a:ext cx="32403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在 Codex 里持续微调界面结构。</a:t>
            </a:r>
          </a:p>
        </p:txBody>
      </p:sp>
      <p:sp>
        <p:nvSpPr>
          <p:cNvPr id="14" name="Ellipse 14"/>
          <p:cNvSpPr/>
          <p:nvPr/>
        </p:nvSpPr>
        <p:spPr>
          <a:xfrm>
            <a:off x="895350" y="47815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75994" y="4837748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填入功能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518" y="5193982"/>
            <a:ext cx="340812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补上数据处理和交付逻辑。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0" y="2514600"/>
            <a:ext cx="4095750" cy="2857500"/>
          </a:xfrm>
          <a:prstGeom prst="roundRect">
            <a:avLst>
              <a:gd name="adj" fmla="val 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609332" y="282130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最后再做质量检查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10856" y="3425190"/>
            <a:ext cx="2532888" cy="15521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1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karpathy</a:t>
            </a:r>
            <a:br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检查代码是否简单、可靠</a:t>
            </a:r>
            <a:br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superpower</a:t>
            </a:r>
            <a:br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检查功能是否完整、可用</a:t>
            </a:r>
          </a:p>
        </p:txBody>
      </p:sp>
      <p:sp>
        <p:nvSpPr>
          <p:cNvPr id="20" name="Line 20"/>
          <p:cNvSpPr/>
          <p:nvPr/>
        </p:nvSpPr>
        <p:spPr>
          <a:xfrm>
            <a:off x="7620000" y="50292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611618" y="51558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先骨架，后细节，再验收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4419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RECAP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930668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我的做法：把一次任务做成可复用工具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4558" y="1588770"/>
            <a:ext cx="857414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不是让 AI 一键生成，而是让 AI 在每一步承担具体工作。</a:t>
            </a:r>
          </a:p>
        </p:txBody>
      </p:sp>
      <p:sp>
        <p:nvSpPr>
          <p:cNvPr id="7" name="Line 7"/>
          <p:cNvSpPr/>
          <p:nvPr/>
        </p:nvSpPr>
        <p:spPr>
          <a:xfrm>
            <a:off x="666750" y="23431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17042" y="28832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644" y="281844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读材料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0999" y="2858929"/>
            <a:ext cx="12922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建立课程背景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7042" y="33594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644" y="32946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定角色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20999" y="3335179"/>
            <a:ext cx="189627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选择 Expert + Skill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7042" y="38357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2644" y="377094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做对齐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0999" y="3811429"/>
            <a:ext cx="12922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把想法问具体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7042" y="43119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644" y="42471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画界面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0999" y="4287679"/>
            <a:ext cx="150489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先看结构和审美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7042" y="47882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2644" y="472344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写功能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20999" y="4763929"/>
            <a:ext cx="213978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从 UI 进入可运行工具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7042" y="52644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2644" y="5199698"/>
            <a:ext cx="80733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做检查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0999" y="5240179"/>
            <a:ext cx="256839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确认功能能用、结果可交付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" y="6115050"/>
            <a:ext cx="10858500" cy="34290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908314" y="6175058"/>
            <a:ext cx="43753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制作逻辑 = 理解问题 + 组织能力 + 分步验证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968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PART 2 / 使用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5490210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做出来以后，怎么用？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524000"/>
            <a:ext cx="8096250" cy="4171950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56" y="1657350"/>
            <a:ext cx="7596839" cy="39052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99042" y="18735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93708" y="212217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放左边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98280" y="26003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上传数据或切换数据源。</a:t>
            </a:r>
          </a:p>
        </p:txBody>
      </p:sp>
      <p:sp>
        <p:nvSpPr>
          <p:cNvPr id="11" name="Line 11"/>
          <p:cNvSpPr/>
          <p:nvPr/>
        </p:nvSpPr>
        <p:spPr>
          <a:xfrm>
            <a:off x="9105900" y="3333750"/>
            <a:ext cx="2114550" cy="9525"/>
          </a:xfrm>
          <a:custGeom>
            <a:avLst/>
            <a:gdLst/>
            <a:ahLst/>
            <a:cxnLst/>
            <a:rect l="l" t="t" r="r" b="b"/>
            <a:pathLst>
              <a:path w="2114550" h="9525">
                <a:moveTo>
                  <a:pt x="0" y="0"/>
                </a:moveTo>
                <a:lnTo>
                  <a:pt x="211455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99042" y="35880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任务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93708" y="383667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选中间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8280" y="43148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选择想做的分析。</a:t>
            </a:r>
          </a:p>
        </p:txBody>
      </p:sp>
      <p:sp>
        <p:nvSpPr>
          <p:cNvPr id="15" name="Line 15"/>
          <p:cNvSpPr/>
          <p:nvPr/>
        </p:nvSpPr>
        <p:spPr>
          <a:xfrm>
            <a:off x="9105900" y="5048250"/>
            <a:ext cx="2114550" cy="9525"/>
          </a:xfrm>
          <a:custGeom>
            <a:avLst/>
            <a:gdLst/>
            <a:ahLst/>
            <a:cxnLst/>
            <a:rect l="l" t="t" r="r" b="b"/>
            <a:pathLst>
              <a:path w="2114550" h="9525">
                <a:moveTo>
                  <a:pt x="0" y="0"/>
                </a:moveTo>
                <a:lnTo>
                  <a:pt x="211455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99042" y="53025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交付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93708" y="555117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看右边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8280" y="6029325"/>
            <a:ext cx="2298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查看结果并导出 HTML。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968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PART 2 / 功能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7125843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三种数据入口，一个交付出口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524000"/>
            <a:ext cx="2381250" cy="188595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60" y="1657350"/>
            <a:ext cx="1944329" cy="160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47597" y="35366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上传数据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4120" y="3854768"/>
            <a:ext cx="7722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拖入 CSV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162300" y="1524000"/>
            <a:ext cx="2381250" cy="188595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392" y="1657350"/>
            <a:ext cx="1509066" cy="1600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789236" y="35366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公开数据库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9988" y="38547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直接跳转数据源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0" y="1524000"/>
            <a:ext cx="2381250" cy="188595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chemeClr val="accent6"/>
            </a:solidFill>
          </a:ln>
        </p:spPr>
      </p:sp>
      <p:pic>
        <p:nvPicPr>
          <p:cNvPr id="15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254" y="1657350"/>
            <a:ext cx="2024743" cy="1600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341936" y="35366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八爪鱼采集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31484" y="3854768"/>
            <a:ext cx="1348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采集后导出 CSV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0" y="1524000"/>
            <a:ext cx="2857500" cy="388620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08542" y="19688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最后的交付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97112" y="2240280"/>
            <a:ext cx="132697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HTML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06256" y="2987040"/>
            <a:ext cx="2532888" cy="1075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根据需要选择交付形式。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分析结果可以直接查看，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也可以导出成 HTML。</a:t>
            </a:r>
          </a:p>
        </p:txBody>
      </p:sp>
      <p:sp>
        <p:nvSpPr>
          <p:cNvPr id="22" name="Line 22"/>
          <p:cNvSpPr/>
          <p:nvPr/>
        </p:nvSpPr>
        <p:spPr>
          <a:xfrm>
            <a:off x="8915400" y="4438650"/>
            <a:ext cx="2152650" cy="9525"/>
          </a:xfrm>
          <a:custGeom>
            <a:avLst/>
            <a:gdLst/>
            <a:ahLst/>
            <a:cxnLst/>
            <a:rect l="l" t="t" r="r" b="b"/>
            <a:pathLst>
              <a:path w="2152650" h="9525">
                <a:moveTo>
                  <a:pt x="0" y="0"/>
                </a:moveTo>
                <a:lnTo>
                  <a:pt x="215265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07018" y="473678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入口可以不同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07018" y="50796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分析流程保持一致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305752"/>
            <a:ext cx="606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CLOSING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70906" y="3057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590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0550" y="724852"/>
            <a:ext cx="9556250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最后，我把 AI 组织成了一条制作流程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4558" y="1607820"/>
            <a:ext cx="39014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先理解问题，再选择能力。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4558" y="2103120"/>
            <a:ext cx="39014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先设计结构，再实现功能。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4558" y="2598420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最后用结果验证工具。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35242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9892" y="40262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制作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7225" y="4369594"/>
            <a:ext cx="610259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读材料 → 定需求 → 选专家和技能 → 设计 → 实现 → 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50739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使用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7225" y="5417344"/>
            <a:ext cx="442653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放入数据 → 选择分析 → 查看并导出结果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" y="6191250"/>
            <a:ext cx="10858500" cy="28575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88511" y="622268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这就是我做数据分析工作台的基本逻辑。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orkbench_process_deck">
  <a:themeElements>
    <a:clrScheme name="workbench_process_deck">
      <a:dk1>
        <a:srgbClr val="171717"/>
      </a:dk1>
      <a:lt1>
        <a:srgbClr val="F7F6F2"/>
      </a:lt1>
      <a:dk2>
        <a:srgbClr val="1F497D"/>
      </a:dk2>
      <a:lt2>
        <a:srgbClr val="EEF1F2"/>
      </a:lt2>
      <a:accent1>
        <a:srgbClr val="1F6EA8"/>
      </a:accent1>
      <a:accent2>
        <a:srgbClr val="C76D3A"/>
      </a:accent2>
      <a:accent3>
        <a:srgbClr val="5C7A72"/>
      </a:accent3>
      <a:accent4>
        <a:srgbClr val="1F6EA8"/>
      </a:accent4>
      <a:accent5>
        <a:srgbClr val="6E7476"/>
      </a:accent5>
      <a:accent6>
        <a:srgbClr val="D4D7D8"/>
      </a:accent6>
      <a:hlink>
        <a:srgbClr val="C76D3A"/>
      </a:hlink>
      <a:folHlink>
        <a:srgbClr val="5C7A72"/>
      </a:folHlink>
    </a:clrScheme>
    <a:fontScheme name="workbench_process_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orkbench_process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2026-09-02T14:14:54Z</dcterms:created>
  <dcterms:modified xsi:type="dcterms:W3CDTF">2026-09-02T14:14:54Z</dcterms:modified>
  <cp:category/>
  <cp:contentStatus/>
</cp:coreProperties>
</file>
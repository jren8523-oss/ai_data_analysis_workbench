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5DA2"/>
                </a:solidFill>
                <a:latin typeface="微软雅黑"/>
              </a:rPr>
              <a:t>AI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447A"/>
                </a:solidFill>
                <a:latin typeface="微软雅黑"/>
              </a:rPr>
              <a:t>从零做一个数据分析工作台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A94A0"/>
                </a:solidFill>
                <a:latin typeface="微软雅黑"/>
              </a:rPr>
              <a:t>一条 AI 协作流水线 · 让学生看懂「怎么用 AI 做工具」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A94A0"/>
                </a:solidFill>
                <a:latin typeface="微软雅黑"/>
              </a:rPr>
              <a:t>单文件 HTML · 双击即开 · 数据不出浏览器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为什么是「工作台」，不是「单次任务」？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可复用，是工具与一次性请求的本质区别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212080" cy="365760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8A94A0"/>
                </a:solidFill>
                <a:latin typeface="微软雅黑"/>
              </a:rPr>
              <a:t>单次任务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46634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微软雅黑"/>
              </a:rPr>
              <a:t>· 每次把数据 + 需求喂给 AI</a:t>
            </a:r>
          </a:p>
          <a:p>
            <a:pPr algn="l"/>
            <a:r>
              <a:rPr sz="1500" b="0">
                <a:solidFill>
                  <a:srgbClr val="2D3748"/>
                </a:solidFill>
                <a:latin typeface="微软雅黑"/>
              </a:rPr>
              <a:t>· 现算现出，结果不沉淀</a:t>
            </a:r>
          </a:p>
          <a:p>
            <a:pPr algn="l"/>
            <a:r>
              <a:rPr sz="1500" b="0">
                <a:solidFill>
                  <a:srgbClr val="2D3748"/>
                </a:solidFill>
                <a:latin typeface="微软雅黑"/>
              </a:rPr>
              <a:t>· 下次换数据，重头再来</a:t>
            </a:r>
          </a:p>
          <a:p>
            <a:pPr algn="l"/>
            <a:r>
              <a:rPr sz="1500" b="0">
                <a:solidFill>
                  <a:srgbClr val="2D3748"/>
                </a:solidFill>
                <a:latin typeface="微软雅黑"/>
              </a:rPr>
              <a:t>· 口径可能每次不一样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212080" cy="365760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447A"/>
                </a:solidFill>
                <a:latin typeface="微软雅黑"/>
              </a:rPr>
              <a:t>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6634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0447A"/>
                </a:solidFill>
                <a:latin typeface="微软雅黑"/>
              </a:rPr>
              <a:t>· 需求 / 方法 / 口径一次固化</a:t>
            </a:r>
          </a:p>
          <a:p>
            <a:pPr algn="l"/>
            <a:r>
              <a:rPr sz="1500" b="0">
                <a:solidFill>
                  <a:srgbClr val="00447A"/>
                </a:solidFill>
                <a:latin typeface="微软雅黑"/>
              </a:rPr>
              <a:t>· 上传数据 → 点一下 → 出报告</a:t>
            </a:r>
          </a:p>
          <a:p>
            <a:pPr algn="l"/>
            <a:r>
              <a:rPr sz="1500" b="0">
                <a:solidFill>
                  <a:srgbClr val="00447A"/>
                </a:solidFill>
                <a:latin typeface="微软雅黑"/>
              </a:rPr>
              <a:t>· 随取随用，永久复用</a:t>
            </a:r>
          </a:p>
          <a:p>
            <a:pPr algn="l"/>
            <a:r>
              <a:rPr sz="1500" b="0">
                <a:solidFill>
                  <a:srgbClr val="00447A"/>
                </a:solidFill>
                <a:latin typeface="微软雅黑"/>
              </a:rPr>
              <a:t>· 双引擎 + QA，结果可验证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0881360" cy="914400"/>
          </a:xfrm>
          <a:prstGeom prst="round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3806"/>
                </a:solidFill>
                <a:latin typeface="微软雅黑"/>
              </a:rPr>
              <a:t>单次是「求 AI 帮一次忙」，工作台是「把 AI 的能力装进一个随取随用的工具」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全流程总览：六步流水线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「工作台搭建师」专家贯穿全程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29000" cy="182880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A900"/>
                </a:solidFill>
                <a:latin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80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447A"/>
                </a:solidFill>
                <a:latin typeface="微软雅黑"/>
              </a:rPr>
              <a:t>让 AI 读懂需求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微软雅黑"/>
              </a:rPr>
              <a:t>喂课程 PPT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29000" cy="182880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A900"/>
                </a:solidFill>
                <a:latin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82880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447A"/>
                </a:solidFill>
                <a:latin typeface="微软雅黑"/>
              </a:rPr>
              <a:t>召唤「工作台搭建师」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微软雅黑"/>
              </a:rPr>
              <a:t>Expert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54480"/>
            <a:ext cx="3429000" cy="182880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830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A900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82880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447A"/>
                </a:solidFill>
                <a:latin typeface="微软雅黑"/>
              </a:rPr>
              <a:t>设计对齐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微软雅黑"/>
              </a:rPr>
              <a:t>grill-me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3429000" cy="182880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77639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A900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23359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447A"/>
                </a:solidFill>
                <a:latin typeface="微软雅黑"/>
              </a:rPr>
              <a:t>画界面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93775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微软雅黑"/>
              </a:rPr>
              <a:t>frontend-design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49039"/>
            <a:ext cx="3429000" cy="182880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39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A900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023359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447A"/>
                </a:solidFill>
                <a:latin typeface="微软雅黑"/>
              </a:rPr>
              <a:t>搭 UI + 填功能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93775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微软雅黑"/>
              </a:rPr>
              <a:t>Codex CLI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749039"/>
            <a:ext cx="3429000" cy="182880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3977639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A900"/>
                </a:solidFill>
                <a:latin typeface="微软雅黑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4023359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447A"/>
                </a:solidFill>
                <a:latin typeface="微软雅黑"/>
              </a:rPr>
              <a:t>质量保障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93775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微软雅黑"/>
              </a:rPr>
              <a:t>karpathy / superpower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A94A0"/>
                </a:solidFill>
                <a:latin typeface="微软雅黑"/>
              </a:rPr>
              <a:t>专家管「怎么想」，技能管「会不会做」——一个专家贯穿，五把技能按环节换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第一步 · 让 AI 读懂需求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需求不是凭空提，是从课程材料里「喂」出来的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00400" cy="17373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447A"/>
                </a:solidFill>
                <a:latin typeface="微软雅黑"/>
              </a:rPr>
              <a:t>课程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微软雅黑"/>
              </a:rPr>
              <a:t>《统计与数据分析基础》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5146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00"/>
                </a:solidFill>
                <a:latin typeface="微软雅黑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200400" cy="17373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331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447A"/>
                </a:solidFill>
                <a:latin typeface="微软雅黑"/>
              </a:rPr>
              <a:t>AI 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微软雅黑"/>
              </a:rPr>
              <a:t>提炼实训与统计口径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25146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00"/>
                </a:solidFill>
                <a:latin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200400" cy="17373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447A"/>
                </a:solidFill>
                <a:latin typeface="微软雅黑"/>
              </a:rPr>
              <a:t>表述需求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17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微软雅黑"/>
              </a:rPr>
              <a:t>我要做一个数据分析工作台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137160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要点：先把课程材料交给 AI 让它「读懂」，再用一句话把需求说清楚。</a:t>
            </a:r>
          </a:p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先总结、再定义——避免一上来就让它瞎猜。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第二步 · 召唤「工作台搭建师」专家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全程以搭建者的身份和视角推进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237744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447A"/>
                </a:solidFill>
                <a:latin typeface="微软雅黑"/>
              </a:rPr>
              <a:t>Expert 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管「怎么想」</a:t>
            </a:r>
          </a:p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定义身份、角色和思维方式</a:t>
            </a:r>
          </a:p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同一时间只认一个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212080" cy="237744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44441"/>
                </a:solidFill>
                <a:latin typeface="微软雅黑"/>
              </a:rPr>
              <a:t>Skill 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1460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管「会不会做」</a:t>
            </a:r>
          </a:p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装进新能力，按需开关</a:t>
            </a:r>
          </a:p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可以同时挂好几个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789920" cy="1554480"/>
          </a:xfrm>
          <a:prstGeom prst="round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3806"/>
                </a:solidFill>
                <a:latin typeface="微软雅黑"/>
              </a:rPr>
              <a:t>最佳搭配 = 专家 + 技能</a:t>
            </a:r>
          </a:p>
          <a:p>
            <a:pPr algn="l"/>
            <a:r>
              <a:rPr sz="1500" b="1">
                <a:solidFill>
                  <a:srgbClr val="633806"/>
                </a:solidFill>
                <a:latin typeface="微软雅黑"/>
              </a:rPr>
              <a:t>开「工作台搭建师」定方向，再按环节挂 grill-me / frontend-design 等技能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第三步 · 设计对齐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用 grill-me 把需求颗粒度问清楚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6035040" cy="118872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47A"/>
                </a:solidFill>
                <a:latin typeface="微软雅黑"/>
              </a:rPr>
              <a:t>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719072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逐层追问，把模糊需求问成清晰计划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6035040" cy="118872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47A"/>
                </a:solidFill>
                <a:latin typeface="微软雅黑"/>
              </a:rPr>
              <a:t>为什么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090672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没有它，AI 只能瞎猜你的真实意图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6035040" cy="118872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47A"/>
                </a:solidFill>
                <a:latin typeface="微软雅黑"/>
              </a:rPr>
              <a:t>不用会怎样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462272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口径没人追问 → 双引擎对不上，改两遍</a:t>
            </a:r>
          </a:p>
        </p:txBody>
      </p:sp>
      <p:pic>
        <p:nvPicPr>
          <p:cNvPr id="12" name="Picture 11" descr="clipboard-2026-09-02T11-40-30-209Z-1cfe09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63040"/>
            <a:ext cx="19462033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58064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0"/>
                </a:solidFill>
                <a:latin typeface="微软雅黑"/>
              </a:rPr>
              <a:t>▲ grill-me：访谈式提问，帮你把构思变清晰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第四步 · 画界面，为什么要用设计 skill？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通用 AI 出「能跑但丑」，设计 skill 出「有审美」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657600" cy="201168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276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A94A0"/>
                </a:solidFill>
                <a:latin typeface="微软雅黑"/>
              </a:rPr>
              <a:t>通用 AI 直接写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烂大街渐变、AI 味重</a:t>
            </a:r>
          </a:p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能跑，但没法直接投影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11880"/>
            <a:ext cx="3657600" cy="20116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679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447A"/>
                </a:solidFill>
                <a:latin typeface="微软雅黑"/>
              </a:rPr>
              <a:t>设计 skill 来画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447A"/>
                </a:solidFill>
                <a:latin typeface="微软雅黑"/>
              </a:rPr>
              <a:t>有自己的审美、极简细节控</a:t>
            </a:r>
          </a:p>
          <a:p>
            <a:pPr algn="l"/>
            <a:r>
              <a:rPr sz="1200" b="0">
                <a:solidFill>
                  <a:srgbClr val="00447A"/>
                </a:solidFill>
                <a:latin typeface="微软雅黑"/>
              </a:rPr>
              <a:t>生成 HTML，对话即可微调</a:t>
            </a:r>
          </a:p>
        </p:txBody>
      </p:sp>
      <p:pic>
        <p:nvPicPr>
          <p:cNvPr id="9" name="Picture 8" descr="clipboard-2026-09-02T11-40-30-219Z-0cfae8c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71600"/>
            <a:ext cx="315468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57150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4A0"/>
                </a:solidFill>
                <a:latin typeface="微软雅黑"/>
              </a:rPr>
              <a:t>▲ 5 个审美 skill 测评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554480"/>
            <a:ext cx="3657600" cy="4023360"/>
          </a:xfrm>
          <a:prstGeom prst="round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3200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33806"/>
                </a:solidFill>
                <a:latin typeface="微软雅黑"/>
              </a:rPr>
              <a:t>结论</a:t>
            </a:r>
          </a:p>
          <a:p>
            <a:pPr algn="l"/>
            <a:r>
              <a:rPr sz="1600" b="1">
                <a:solidFill>
                  <a:srgbClr val="633806"/>
                </a:solidFill>
                <a:latin typeface="微软雅黑"/>
              </a:rPr>
              <a:t/>
            </a:r>
          </a:p>
          <a:p>
            <a:pPr algn="l"/>
            <a:r>
              <a:rPr sz="1600" b="1">
                <a:solidFill>
                  <a:srgbClr val="633806"/>
                </a:solidFill>
                <a:latin typeface="微软雅黑"/>
              </a:rPr>
              <a:t>5 个审美 skill 实测，</a:t>
            </a:r>
          </a:p>
          <a:p>
            <a:pPr algn="l"/>
            <a:r>
              <a:rPr sz="1600" b="1">
                <a:solidFill>
                  <a:srgbClr val="633806"/>
                </a:solidFill>
                <a:latin typeface="微软雅黑"/>
              </a:rPr>
              <a:t>这套工作台选</a:t>
            </a:r>
          </a:p>
          <a:p>
            <a:pPr algn="l"/>
            <a:r>
              <a:rPr sz="1600" b="1">
                <a:solidFill>
                  <a:srgbClr val="633806"/>
                </a:solidFill>
                <a:latin typeface="微软雅黑"/>
              </a:rPr>
              <a:t>frontend-design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第四步 · 5 个审美 skill 实机对比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同一套设计 prompt，不同 skill 出的页面</a:t>
            </a:r>
          </a:p>
        </p:txBody>
      </p:sp>
      <p:pic>
        <p:nvPicPr>
          <p:cNvPr id="3" name="Picture 2" descr="clipboard-2026-09-02T11-40-30-223Z-79d7fe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886267" cy="2834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3434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微软雅黑"/>
              </a:rPr>
              <a:t>taste-skill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0060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微软雅黑"/>
              </a:rPr>
              <a:t>英文极简 portfolio，做中文教学工具水土不服</a:t>
            </a:r>
          </a:p>
        </p:txBody>
      </p:sp>
      <p:pic>
        <p:nvPicPr>
          <p:cNvPr id="6" name="Picture 5" descr="clipboard-2026-09-02T11-40-30-229Z-977852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2183603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0" y="43434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  <a:latin typeface="微软雅黑"/>
              </a:rPr>
              <a:t>UI-UX-PRO-MAX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80060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微软雅黑"/>
              </a:rPr>
              <a:t>中文能打，但实测略有 AI 味</a:t>
            </a:r>
          </a:p>
        </p:txBody>
      </p:sp>
      <p:pic>
        <p:nvPicPr>
          <p:cNvPr id="9" name="Picture 8" descr="clipboard-2026-09-02T11-40-30-233Z-b0a15f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9" y="1371600"/>
            <a:ext cx="2095422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59" y="43434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447A"/>
                </a:solidFill>
                <a:latin typeface="微软雅黑"/>
              </a:rPr>
              <a:t>frontend-design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4800600"/>
            <a:ext cx="3474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微软雅黑"/>
              </a:rPr>
              <a:t>中文质感最好，极简细节控，胜出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943600"/>
            <a:ext cx="10881360" cy="731520"/>
          </a:xfrm>
          <a:prstGeom prst="round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608990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对「中文 + 教学投影」场景，frontend-design 最合——三张实机 + 博主实测得出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第五步 · 搭 UI + 填功能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先骨架、再微调、后填血肉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00400" cy="17373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447A"/>
                </a:solidFill>
                <a:latin typeface="微软雅黑"/>
              </a:rPr>
              <a:t>搭骨架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微软雅黑"/>
              </a:rPr>
              <a:t>把三栏界面结构搭出来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5146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00"/>
                </a:solidFill>
                <a:latin typeface="微软雅黑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200400" cy="17373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331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447A"/>
                </a:solidFill>
                <a:latin typeface="微软雅黑"/>
              </a:rPr>
              <a:t>微调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微软雅黑"/>
              </a:rPr>
              <a:t>Codex CLI 里顺手调细节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25146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2A900"/>
                </a:solidFill>
                <a:latin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200400" cy="17373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447A"/>
                </a:solidFill>
                <a:latin typeface="微软雅黑"/>
              </a:rPr>
              <a:t>填血肉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17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  <a:latin typeface="微软雅黑"/>
              </a:rPr>
              <a:t>让 AI 填 12 项分析能力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137160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10149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要点：界面先有「形」，AI 才知道往哪填功能。</a:t>
            </a:r>
          </a:p>
          <a:p>
            <a:pPr algn="l"/>
            <a:r>
              <a:rPr sz="1400" b="0">
                <a:solidFill>
                  <a:srgbClr val="2D3748"/>
                </a:solidFill>
                <a:latin typeface="微软雅黑"/>
              </a:rPr>
              <a:t>Codex CLI 让「边聊边改代码」成为可能，微调不再靠手敲。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第六步 · 工程质量保障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用技能守住质量，不靠肉眼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6583680" cy="10972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1051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47A"/>
                </a:solidFill>
                <a:latin typeface="微软雅黑"/>
              </a:rPr>
              <a:t>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700784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karpathy / superpower 把工程质量程序化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39"/>
            <a:ext cx="6583680" cy="109728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9067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47A"/>
                </a:solidFill>
                <a:latin typeface="微软雅黑"/>
              </a:rPr>
              <a:t>为什么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980944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AI 也会犯错，得有「验证」兜底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6583680" cy="10972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70832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447A"/>
                </a:solidFill>
                <a:latin typeface="微软雅黑"/>
              </a:rPr>
              <a:t>不用会怎样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261104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众数取最小、指数自洽这种边界 bug 没人抓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54480"/>
            <a:ext cx="3931920" cy="3566160"/>
          </a:xfrm>
          <a:prstGeom prst="round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103120"/>
            <a:ext cx="3474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33806"/>
                </a:solidFill>
                <a:latin typeface="微软雅黑"/>
              </a:rPr>
              <a:t>冒烟测试</a:t>
            </a:r>
          </a:p>
          <a:p>
            <a:pPr algn="ctr"/>
            <a:r>
              <a:rPr sz="2000" b="1">
                <a:solidFill>
                  <a:srgbClr val="633806"/>
                </a:solidFill>
                <a:latin typeface="微软雅黑"/>
              </a:rPr>
              <a:t>61 项</a:t>
            </a:r>
          </a:p>
          <a:p>
            <a:pPr algn="ctr"/>
            <a:r>
              <a:rPr sz="2000" b="1">
                <a:solidFill>
                  <a:srgbClr val="633806"/>
                </a:solidFill>
                <a:latin typeface="微软雅黑"/>
              </a:rPr>
              <a:t/>
            </a:r>
          </a:p>
          <a:p>
            <a:pPr algn="ctr"/>
            <a:r>
              <a:rPr sz="2000" b="1">
                <a:solidFill>
                  <a:srgbClr val="633806"/>
                </a:solidFill>
                <a:latin typeface="微软雅黑"/>
              </a:rPr>
              <a:t>QA 三层校验</a:t>
            </a:r>
          </a:p>
          <a:p>
            <a:pPr algn="ctr"/>
            <a:r>
              <a:rPr sz="2000" b="1">
                <a:solidFill>
                  <a:srgbClr val="633806"/>
                </a:solidFill>
                <a:latin typeface="微软雅黑"/>
              </a:rPr>
              <a:t>78 项全绿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成果 · 12 项分析能力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10 个课堂实训全跑通，78 项 QA 全绿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560320" cy="10972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描述统计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560320" cy="109728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19019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多指标对比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560320" cy="10972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9019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数据清洗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39" y="1554480"/>
            <a:ext cx="2560320" cy="109728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39" y="19019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抽样估计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2560320" cy="10972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735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统计指数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926080"/>
            <a:ext cx="2560320" cy="109728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2735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相关回归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2560320" cy="10972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2735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时间序列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2926080"/>
            <a:ext cx="2560320" cy="109728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39" y="32735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分组汇总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80"/>
            <a:ext cx="2560320" cy="10972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451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t 检验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297680"/>
            <a:ext cx="2560320" cy="109728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46451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方差分析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97680"/>
            <a:ext cx="2560320" cy="109728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6451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卡方检验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39" y="4297680"/>
            <a:ext cx="2560320" cy="1097280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4645152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447A"/>
                </a:solidFill>
                <a:latin typeface="微软雅黑"/>
              </a:rPr>
              <a:t>非参数检验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852160"/>
            <a:ext cx="10881360" cy="731520"/>
          </a:xfrm>
          <a:prstGeom prst="roundRect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99846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描述 + 推断统计全覆盖 · 双引擎口径一致 · 数据不满足条件会明确提示而非伪造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0447A"/>
                </a:solidFill>
                <a:latin typeface="微软雅黑"/>
              </a:rPr>
              <a:t>做工具 = 选对专家 + 挂对技能 + 阶段验收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8A94A0"/>
                </a:solidFill>
                <a:latin typeface="微软雅黑"/>
              </a:rPr>
              <a:t>而不是「一键生成」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343400"/>
            <a:ext cx="7589520" cy="1280160"/>
          </a:xfrm>
          <a:prstGeom prst="round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4617720"/>
            <a:ext cx="7040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633806"/>
                </a:solidFill>
                <a:latin typeface="微软雅黑"/>
              </a:rPr>
              <a:t>清晰的需求 + 趁手的技能 + 每一步都验证</a:t>
            </a:r>
          </a:p>
          <a:p>
            <a:pPr algn="ctr"/>
            <a:r>
              <a:rPr sz="1500" b="1">
                <a:solidFill>
                  <a:srgbClr val="633806"/>
                </a:solidFill>
                <a:latin typeface="微软雅黑"/>
              </a:rPr>
              <a:t>——这才是用 AI 做出可用工具的正确姿势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附录 · 术语表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正文用到的词，这里都有解释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81360" cy="603504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270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447A"/>
                </a:solidFill>
                <a:latin typeface="微软雅黑"/>
              </a:rPr>
              <a:t>Expert 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545336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管「怎么想」：定身份、角色和视角，一次只认一个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30552"/>
            <a:ext cx="10881360" cy="603504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447A"/>
                </a:solidFill>
                <a:latin typeface="微软雅黑"/>
              </a:rPr>
              <a:t>Skill 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58568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管「会不会做」：装进新能力，可同时挂多个、按需开关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43784"/>
            <a:ext cx="10881360" cy="603504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5351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447A"/>
                </a:solidFill>
                <a:latin typeface="微软雅黑"/>
              </a:rPr>
              <a:t>grill-me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访谈式追问，把模糊需求问成清晰可执行的计划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57015"/>
            <a:ext cx="10881360" cy="603504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66744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447A"/>
                </a:solidFill>
                <a:latin typeface="微软雅黑"/>
              </a:rPr>
              <a:t>frontend-design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685031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有审美的网页生成技能，出 HTML、响应式、可对话微调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70248"/>
            <a:ext cx="10881360" cy="603504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7997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447A"/>
                </a:solidFill>
                <a:latin typeface="微软雅黑"/>
              </a:rPr>
              <a:t>Codex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398264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命令行 AI 编码工具，边聊边改代码、顺手微调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10881360" cy="603504"/>
          </a:xfrm>
          <a:prstGeom prst="round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9320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447A"/>
                </a:solidFill>
                <a:latin typeface="微软雅黑"/>
              </a:rPr>
              <a:t>karpathy / superpower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111496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把工程质量（代码质量、测试验收）程序化的技能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96712"/>
            <a:ext cx="10881360" cy="603504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447A"/>
                </a:solidFill>
                <a:latin typeface="微软雅黑"/>
              </a:rPr>
              <a:t>双引擎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824727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748"/>
                </a:solidFill>
                <a:latin typeface="微软雅黑"/>
              </a:rPr>
              <a:t>浏览器 JS 现场算 + Python 当基准验算，口径必须一致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
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5DA2"/>
                </a:solidFill>
                <a:latin typeface="微软雅黑"/>
              </a:rPr>
              <a:t>AI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447A"/>
                </a:solidFill>
                <a:latin typeface="微软雅黑"/>
              </a:rPr>
              <a:t>AI 数据分析工作台 · 交付总览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A94A0"/>
                </a:solidFill>
                <a:latin typeface="微软雅黑"/>
              </a:rPr>
              <a:t>《统计与数据分析基础》课程配套 · 课堂演示工具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94A0"/>
                </a:solidFill>
                <a:latin typeface="微软雅黑"/>
              </a:rPr>
              <a:t>静态 HTML 工作台 · 双击即开 · 数据只读 · 结果可导出本 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工作台能力一览</a:t>
            </a:r>
          </a:p>
          <a:p>
            <a:pPr algn="l"/>
            <a:r>
              <a:rPr sz="1200">
                <a:solidFill>
                  <a:srgbClr val="D9E7F4"/>
                </a:solidFill>
                <a:latin typeface="微软雅黑"/>
              </a:rPr>
              <a:t>9 个实训任务全流程跑通 + 1 个外部工具占位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2A900"/>
                </a:solidFill>
                <a:latin typeface="微软雅黑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447A"/>
                </a:solidFill>
                <a:latin typeface="微软雅黑"/>
              </a:rPr>
              <a:t>9 大实训全流程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0" y="146304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微软雅黑"/>
              </a:rPr>
              <a:t>数据概况 → 指标计算 → 图表 → 分层结论 → QA 验证，报告即标准答案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2A900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4231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447A"/>
                </a:solidFill>
                <a:latin typeface="微软雅黑"/>
              </a:rPr>
              <a:t>对齐课堂风格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4231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微软雅黑"/>
              </a:rPr>
              <a:t>AI DATA ANALYSIS 标签 + DIG 框架 + 编号步骤卡 + 公式四件套，可直接投影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2A900"/>
                </a:solidFill>
                <a:latin typeface="微软雅黑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383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447A"/>
                </a:solidFill>
                <a:latin typeface="微软雅黑"/>
              </a:rPr>
              <a:t>推荐 Prompt 可复现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3832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微软雅黑"/>
              </a:rPr>
              <a:t>每个任务附提示词，学生课后复制给 AI 独立复现同款分析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434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2A900"/>
                </a:solidFill>
                <a:latin typeface="微软雅黑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4343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447A"/>
                </a:solidFill>
                <a:latin typeface="微软雅黑"/>
              </a:rPr>
              <a:t>数据安全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434340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微软雅黑"/>
              </a:rPr>
              <a:t>原始数据只读（SHA-256 校验）、示例数据按课程描述构造、可替换真实数据重跑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2A900"/>
                </a:solidFill>
                <a:latin typeface="微软雅黑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5303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447A"/>
                </a:solidFill>
                <a:latin typeface="微软雅黑"/>
              </a:rPr>
              <a:t>全离线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53035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微软雅黑"/>
              </a:rPr>
              <a:t>单文件 HTML + 本地图表 PNG，不依赖任何外部服务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任务 01 · 店铺访客数分析</a:t>
            </a:r>
          </a:p>
          <a:p>
            <a:pPr algn="l"/>
            <a:r>
              <a:rPr sz="1200">
                <a:solidFill>
                  <a:srgbClr val="D9E7F4"/>
                </a:solidFill>
                <a:latin typeface="微软雅黑"/>
              </a:rPr>
              <a:t>对比分析 · 趋势分析 · 占比分析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5DA2"/>
                </a:solidFill>
                <a:latin typeface="微软雅黑"/>
              </a:rPr>
              <a:t>第1章 大数据时代的统计与数据分析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7451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微软雅黑"/>
              </a:rPr>
              <a:t>分析主题：对比分析 · 趋势分析 · 占比分析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231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E5A"/>
                </a:solidFill>
                <a:latin typeface="微软雅黑"/>
              </a:rPr>
              <a:t>✅ QA 验证：8/8 项检查全部通过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6324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4A0"/>
                </a:solidFill>
                <a:latin typeface="微软雅黑"/>
              </a:rPr>
              <a:t>分析链路：数据概况 → 指标计算（公式→代入→结果→解释）→ 图表 → 分层结论 → QA 三层验证</a:t>
            </a:r>
          </a:p>
        </p:txBody>
      </p:sp>
      <p:pic>
        <p:nvPicPr>
          <p:cNvPr id="7" name="Picture 6" descr="01_monthly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94960" cy="3016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任务 02 · 使用八爪鱼采集招聘数据</a:t>
            </a:r>
          </a:p>
          <a:p>
            <a:pPr algn="l"/>
            <a:r>
              <a:rPr sz="1200">
                <a:solidFill>
                  <a:srgbClr val="D9E7F4"/>
                </a:solidFill>
                <a:latin typeface="微软雅黑"/>
              </a:rPr>
              <a:t>网页数据采集（需外部采集工具）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5DA2"/>
                </a:solidFill>
                <a:latin typeface="微软雅黑"/>
              </a:rPr>
              <a:t>第2章 数据采集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7451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微软雅黑"/>
              </a:rPr>
              <a:t>分析主题：网页数据采集（需外部采集工具）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231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微软雅黑"/>
              </a:rPr>
              <a:t>⛔ 占位任务：需外部采集工具，不参与构建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6324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4A0"/>
                </a:solidFill>
                <a:latin typeface="微软雅黑"/>
              </a:rPr>
              <a:t>分析链路：数据概况 → 指标计算（公式→代入→结果→解释）→ 图表 → 分层结论 → QA 三层验证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7432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4A0"/>
                </a:solidFill>
                <a:latin typeface="微软雅黑"/>
              </a:rPr>
              <a:t>（无图表）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任务 03 · 数据清洗与加工</a:t>
            </a:r>
          </a:p>
          <a:p>
            <a:pPr algn="l"/>
            <a:r>
              <a:rPr sz="1200">
                <a:solidFill>
                  <a:srgbClr val="D9E7F4"/>
                </a:solidFill>
                <a:latin typeface="微软雅黑"/>
              </a:rPr>
              <a:t>缺失值 · 重复值 · 异常值 · 标准化 · 新变量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5DA2"/>
                </a:solidFill>
                <a:latin typeface="微软雅黑"/>
              </a:rPr>
              <a:t>第3章 数据处理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7451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微软雅黑"/>
              </a:rPr>
              <a:t>分析主题：缺失值 · 重复值 · 异常值 · 标准化 · 新变量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231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E5A"/>
                </a:solidFill>
                <a:latin typeface="微软雅黑"/>
              </a:rPr>
              <a:t>✅ QA 验证：8/8 项检查全部通过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6324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4A0"/>
                </a:solidFill>
                <a:latin typeface="微软雅黑"/>
              </a:rPr>
              <a:t>分析链路：数据概况 → 指标计算（公式→代入→结果→解释）→ 图表 → 分层结论 → QA 三层验证</a:t>
            </a:r>
          </a:p>
        </p:txBody>
      </p:sp>
      <p:pic>
        <p:nvPicPr>
          <p:cNvPr id="7" name="Picture 6" descr="03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94960" cy="3016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任务 04 · 生产资料市场价格分析</a:t>
            </a:r>
          </a:p>
          <a:p>
            <a:pPr algn="l"/>
            <a:r>
              <a:rPr sz="1200">
                <a:solidFill>
                  <a:srgbClr val="D9E7F4"/>
                </a:solidFill>
                <a:latin typeface="微软雅黑"/>
              </a:rPr>
              <a:t>集中趋势 · 离散程度 · 分布形态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5DA2"/>
                </a:solidFill>
                <a:latin typeface="微软雅黑"/>
              </a:rPr>
              <a:t>第4章 描述性统计分析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7451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微软雅黑"/>
              </a:rPr>
              <a:t>分析主题：集中趋势 · 离散程度 · 分布形态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231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E5A"/>
                </a:solidFill>
                <a:latin typeface="微软雅黑"/>
              </a:rPr>
              <a:t>✅ QA 验证：7/7 项检查全部通过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6324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4A0"/>
                </a:solidFill>
                <a:latin typeface="微软雅黑"/>
              </a:rPr>
              <a:t>分析链路：数据概况 → 指标计算（公式→代入→结果→解释）→ 图表 → 分层结论 → QA 三层验证</a:t>
            </a:r>
          </a:p>
        </p:txBody>
      </p:sp>
      <p:pic>
        <p:nvPicPr>
          <p:cNvPr id="7" name="Picture 6" descr="04_hist_hist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94960" cy="3016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任务 05 · 小区居民用电分析</a:t>
            </a:r>
          </a:p>
          <a:p>
            <a:pPr algn="l"/>
            <a:r>
              <a:rPr sz="1200">
                <a:solidFill>
                  <a:srgbClr val="D9E7F4"/>
                </a:solidFill>
                <a:latin typeface="微软雅黑"/>
              </a:rPr>
              <a:t>总体均值区间估计 · 总体比例区间估计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5DA2"/>
                </a:solidFill>
                <a:latin typeface="微软雅黑"/>
              </a:rPr>
              <a:t>第5章 抽样估计分析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7451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微软雅黑"/>
              </a:rPr>
              <a:t>分析主题：总体均值区间估计 · 总体比例区间估计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231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E5A"/>
                </a:solidFill>
                <a:latin typeface="微软雅黑"/>
              </a:rPr>
              <a:t>✅ QA 验证：9/9 项检查全部通过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6324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4A0"/>
                </a:solidFill>
                <a:latin typeface="微软雅黑"/>
              </a:rPr>
              <a:t>分析链路：数据概况 → 指标计算（公式→代入→结果→解释）→ 图表 → 分层结论 → QA 三层验证</a:t>
            </a:r>
          </a:p>
        </p:txBody>
      </p:sp>
      <p:pic>
        <p:nvPicPr>
          <p:cNvPr id="7" name="Picture 6" descr="05_hist_hist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94960" cy="3016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任务 06 · 产品总成本变动分析</a:t>
            </a:r>
          </a:p>
          <a:p>
            <a:pPr algn="l"/>
            <a:r>
              <a:rPr sz="1200">
                <a:solidFill>
                  <a:srgbClr val="D9E7F4"/>
                </a:solidFill>
                <a:latin typeface="微软雅黑"/>
              </a:rPr>
              <a:t>综合指数 · 平均指数 · 因素分析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5DA2"/>
                </a:solidFill>
                <a:latin typeface="微软雅黑"/>
              </a:rPr>
              <a:t>第6章 统计指数分析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7451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微软雅黑"/>
              </a:rPr>
              <a:t>分析主题：综合指数 · 平均指数 · 因素分析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231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E5A"/>
                </a:solidFill>
                <a:latin typeface="微软雅黑"/>
              </a:rPr>
              <a:t>✅ QA 验证：8/8 项检查全部通过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6324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4A0"/>
                </a:solidFill>
                <a:latin typeface="微软雅黑"/>
              </a:rPr>
              <a:t>分析链路：数据概况 → 指标计算（公式→代入→结果→解释）→ 图表 → 分层结论 → QA 三层验证</a:t>
            </a:r>
          </a:p>
        </p:txBody>
      </p:sp>
      <p:pic>
        <p:nvPicPr>
          <p:cNvPr id="7" name="Picture 6" descr="06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94960" cy="3016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任务 07 · 研发与销售关系分析</a:t>
            </a:r>
          </a:p>
          <a:p>
            <a:pPr algn="l"/>
            <a:r>
              <a:rPr sz="1200">
                <a:solidFill>
                  <a:srgbClr val="D9E7F4"/>
                </a:solidFill>
                <a:latin typeface="微软雅黑"/>
              </a:rPr>
              <a:t>相关分析 · 一元线性回归 · 预测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5DA2"/>
                </a:solidFill>
                <a:latin typeface="微软雅黑"/>
              </a:rPr>
              <a:t>第7章 相关与回归分析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7451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微软雅黑"/>
              </a:rPr>
              <a:t>分析主题：相关分析 · 一元线性回归 · 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231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E5A"/>
                </a:solidFill>
                <a:latin typeface="微软雅黑"/>
              </a:rPr>
              <a:t>✅ QA 验证：8/8 项检查全部通过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6324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4A0"/>
                </a:solidFill>
                <a:latin typeface="微软雅黑"/>
              </a:rPr>
              <a:t>分析链路：数据概况 → 指标计算（公式→代入→结果→解释）→ 图表 → 分层结论 → QA 三层验证</a:t>
            </a:r>
          </a:p>
        </p:txBody>
      </p:sp>
      <p:pic>
        <p:nvPicPr>
          <p:cNvPr id="7" name="Picture 6" descr="07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94960" cy="3016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任务 08 · 分析并预测企业总产值</a:t>
            </a:r>
          </a:p>
          <a:p>
            <a:pPr algn="l"/>
            <a:r>
              <a:rPr sz="1200">
                <a:solidFill>
                  <a:srgbClr val="D9E7F4"/>
                </a:solidFill>
                <a:latin typeface="微软雅黑"/>
              </a:rPr>
              <a:t>发展水平 · 发展速度 · 趋势方程 · 预测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5DA2"/>
                </a:solidFill>
                <a:latin typeface="微软雅黑"/>
              </a:rPr>
              <a:t>第8章 时间序列分析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7451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微软雅黑"/>
              </a:rPr>
              <a:t>分析主题：发展水平 · 发展速度 · 趋势方程 · 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231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E5A"/>
                </a:solidFill>
                <a:latin typeface="微软雅黑"/>
              </a:rPr>
              <a:t>✅ QA 验证：9/9 项检查全部通过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6324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4A0"/>
                </a:solidFill>
                <a:latin typeface="微软雅黑"/>
              </a:rPr>
              <a:t>分析链路：数据概况 → 指标计算（公式→代入→结果→解释）→ 图表 → 分层结论 → QA 三层验证</a:t>
            </a:r>
          </a:p>
        </p:txBody>
      </p:sp>
      <p:pic>
        <p:nvPicPr>
          <p:cNvPr id="7" name="Picture 6" descr="08_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94960" cy="3016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任务 09 · 网店访客数可视化展现</a:t>
            </a:r>
          </a:p>
          <a:p>
            <a:pPr algn="l"/>
            <a:r>
              <a:rPr sz="1200">
                <a:solidFill>
                  <a:srgbClr val="D9E7F4"/>
                </a:solidFill>
                <a:latin typeface="微软雅黑"/>
              </a:rPr>
              <a:t>统计表 · 柱形图 · 折线图 · 饼图 · 数据透视表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5DA2"/>
                </a:solidFill>
                <a:latin typeface="微软雅黑"/>
              </a:rPr>
              <a:t>第9章 数据可视化展现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7451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微软雅黑"/>
              </a:rPr>
              <a:t>分析主题：统计表 · 柱形图 · 折线图 · 饼图 · 数据透视表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231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E5A"/>
                </a:solidFill>
                <a:latin typeface="微软雅黑"/>
              </a:rPr>
              <a:t>✅ QA 验证：11/11 项检查全部通过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6324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4A0"/>
                </a:solidFill>
                <a:latin typeface="微软雅黑"/>
              </a:rPr>
              <a:t>分析链路：数据概况 → 指标计算（公式→代入→结果→解释）→ 图表 → 分层结论 → QA 三层验证</a:t>
            </a:r>
          </a:p>
        </p:txBody>
      </p:sp>
      <p:pic>
        <p:nvPicPr>
          <p:cNvPr id="7" name="Picture 6" descr="09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94960" cy="3016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任务 10 · 制作销售数据分析报告</a:t>
            </a:r>
          </a:p>
          <a:p>
            <a:pPr algn="l"/>
            <a:r>
              <a:rPr sz="1200">
                <a:solidFill>
                  <a:srgbClr val="D9E7F4"/>
                </a:solidFill>
                <a:latin typeface="微软雅黑"/>
              </a:rPr>
              <a:t>分年度分析 · 年度比较 · 总体汇总 · 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258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5DA2"/>
                </a:solidFill>
                <a:latin typeface="微软雅黑"/>
              </a:rPr>
              <a:t>第10章 制作数据分析报告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874519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微软雅黑"/>
              </a:rPr>
              <a:t>分析主题：分年度分析 · 年度比较 · 总体汇总 · 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4231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E5A"/>
                </a:solidFill>
                <a:latin typeface="微软雅黑"/>
              </a:rPr>
              <a:t>✅ QA 验证：10/10 项检查全部通过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6324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4A0"/>
                </a:solidFill>
                <a:latin typeface="微软雅黑"/>
              </a:rPr>
              <a:t>分析链路：数据概况 → 指标计算（公式→代入→结果→解释）→ 图表 → 分层结论 → QA 三层验证</a:t>
            </a:r>
          </a:p>
        </p:txBody>
      </p:sp>
      <p:pic>
        <p:nvPicPr>
          <p:cNvPr id="7" name="Picture 6" descr="10_month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94960" cy="3016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09728" wrap="square"/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/>
              </a:rPr>
              <a:t>构建统计</a:t>
            </a:r>
          </a:p>
          <a:p>
            <a:pPr algn="l"/>
            <a:r>
              <a:rPr sz="1200">
                <a:solidFill>
                  <a:srgbClr val="D9E7F4"/>
                </a:solidFill>
                <a:latin typeface="微软雅黑"/>
              </a:rPr>
              <a:t>output/build_log.json 全量记录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E8E5A"/>
                </a:solidFill>
                <a:latin typeface="微软雅黑"/>
              </a:rPr>
              <a:t>✅ 通过 9 / 9 个可构建任务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94A0"/>
                </a:solidFill>
                <a:latin typeface="微软雅黑"/>
              </a:rPr>
              <a:t>⛔ 占位 1 个（任务 02 · 需外部采集工具）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748"/>
                </a:solidFill>
                <a:latin typeface="微软雅黑"/>
              </a:rPr>
              <a:t>所有指标由确定性代码计算（pandas/numpy/scipy），LLM 不做心算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94A0"/>
                </a:solidFill>
                <a:latin typeface="微软雅黑"/>
              </a:rPr>
              <a:t>本文件由 engine/ppt_out.py 自动生成，可在 PowerPoint / WPS 中自由编辑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